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— Ninety-two out of every hundred drugs that enter human trials never reach a patient. Not because the science was bad. Often nobody could tell in time. I'm building CLARITY: point it at a registry ID, and it hands back the file a reviewer would want on their desk — with every claim traceable to a document you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— That 7.9% is BIO's, across a decade. The capitalised cost of one survivor is 2.6 billion dollars. Behind the numbers is a queue — and in our catalog there are 118 programmes that might change a trajectory like that, almost all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— Several days of specialist time. Not reproducible. Land the line: the bottleneck is not intelligence, it is audit. Then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 — It will answer well about pembrolizumab, and with identical confidence about the CAR-T that has published nothing. In a regulatory context that's worse than useless.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 — Retrieval is one system. Extraction is a second pass that sees only one domain's packet and must attach a public identifier. Scoring is a third pass that sees only the trial record and the cited dossier. That constraint is not a design preference — it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3:05 — This is the workstation. The graph isn't an animation playing next to the run — it is the run. Every retrieval attaches the document it found, so the graph visibly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3:25 — Claim, to citations, to the extraction with its own confidence, to the literal search command, to the model and rubric version. A broken chain shown honestly is the difference between provenance and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 — This is the slide that makes the case. Don't rush the table. Land “told you nothing — twice,” then show that the ceiling is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4:15 — Cut this slide first if you are over time. Its job is only to show the numbers move for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 — Optional out loud, but leave it on screen during Q&amp;A. Stating the boundary is what buys the rest of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4:35 — Compress hard if you are short. The one sentence that must survive: the rubric refuses to load if the weights don't sum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4:35 — Replace both amber placeholders before you present. Close on “argue with the number” — it is the invitation, and it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RETRIEVAL BY PAPERCLIP · REASONING BY CLAUDE · STRUCTURE BY BENCHLING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FDA-grade </a:t>
            </a: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 room</a:t>
            </a:r>
            <a:pPr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for clinical trials.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registry ID. CLARITY turns the public record into the file a reviewer would want on their desk — registry facts, FDA precedent, primary literature, a cited nine-domain dossier, and an approval-risk call that shows the weakest argument first.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PROGRAMMES IN CATALOG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RUBRIC DIMENSIONS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THIRD-PARTY SCRIPTS IN BROWSER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STAKE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92</a:t>
            </a:r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of every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drugs that enter human trials never reach a patient.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 → APPROVAL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decade of development programmes.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$2.6B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CAPITALISED COST PER SURVIVOR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get one across the line.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OUR 118 ARE PHASE 1 OR 1/2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where nobody outside the sponsor can separate promising from doomed.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those numbers is a queue. A child with transfusion-dependent β-thalassemia is on a four-weekly transfusion schedule and an iron chelator for life.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rate: BIO / Informa / QLS, Clinical Development Success Rates 2011–2020. Cost: DiMasi, Grabowski &amp; Hansen, J Health Econ 47:20–33, 2016. Phase mix: this repository's catalog.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IS STUCK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licensing team, a translational investor and a foundation are all doing </a:t>
            </a:r>
            <a:pPr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same task by hand</a:t>
            </a:r>
            <a:pPr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today.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job, as done 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registry record. Find the Phase 1 publication, if it exists. Pull the FDA review package for the nearest approved product in the class. Notice nobody published per-cohort dosing. Form a probability. Write it down.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justify it to someone who </a:t>
            </a:r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“where did that come from?”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9659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0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SPECIALIST TIME, PER PROGRAMME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2880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IT REPRODUCIBLE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3685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analysts reading the same literature reach different numbers, and neither can hand over the trail that got them there.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681728"/>
            <a:ext cx="0" cy="384048"/>
          </a:xfrm>
          <a:prstGeom prst="line">
            <a:avLst/>
          </a:prstGeom>
          <a:noFill/>
          <a:ln w="28575">
            <a:solidFill>
              <a:srgbClr val="E8C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5902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bottleneck on capital reaching good science is not intelligence. It is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audit</a:t>
            </a:r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OBVIOUS SOLUTION, AND HOW IT FAILS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a language model.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will answer.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848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E8A0"/>
                </a:solidFill>
              </a:rPr>
              <a:t>●  </a:t>
            </a:r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</a:rPr>
              <a:t>Pembrolizumab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published trials, labels and review packages. The model answers well.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20848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2554A"/>
                </a:solidFill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</a:rPr>
              <a:t>A Phase 1/2 allogeneic CAR-T, 11 weeks 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83480" y="26517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registry record filed. Nothing published. The model answers with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confidence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fluent register. Same air of authority.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whatsoever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distinguishing the recalled fact from the plausible invention.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0" cy="384048"/>
          </a:xfrm>
          <a:prstGeom prst="line">
            <a:avLst/>
          </a:prstGeom>
          <a:noFill/>
          <a:ln w="28575">
            <a:solidFill>
              <a:srgbClr val="E255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572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opinion you cannot audit is not a weak opinion — it is </a:t>
            </a:r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liability that looks like an asset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not a reasoning failure. It is a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provenance</a:t>
            </a:r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failure.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74520"/>
            <a:ext cx="2624328" cy="41148"/>
          </a:xfrm>
          <a:prstGeom prst="rect">
            <a:avLst/>
          </a:prstGeom>
          <a:solidFill>
            <a:srgbClr val="5EEAE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21408"/>
            <a:ext cx="82296" cy="82296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482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 · PAPERCLIP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everything public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Registries, FDA reviews, PMC and bioRxiv, US and international trial indexes.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221992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58368" y="380390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Whatever this returns is the entire universe of available facts.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64408" y="187452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874520"/>
            <a:ext cx="2624328" cy="41148"/>
          </a:xfrm>
          <a:prstGeom prst="rect">
            <a:avLst/>
          </a:prstGeom>
          <a:solidFill>
            <a:srgbClr val="F0A07A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5576" y="2121408"/>
            <a:ext cx="82296" cy="82296"/>
          </a:xfrm>
          <a:prstGeom prst="ellipse">
            <a:avLst/>
          </a:prstGeom>
          <a:solidFill>
            <a:srgbClr val="F0A07A"/>
          </a:solidFill>
          <a:ln/>
        </p:spPr>
      </p:sp>
      <p:sp>
        <p:nvSpPr>
          <p:cNvPr id="15" name="Text 13"/>
          <p:cNvSpPr/>
          <p:nvPr/>
        </p:nvSpPr>
        <p:spPr>
          <a:xfrm>
            <a:off x="3630168" y="20482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0A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 · 9 DOMAINS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65576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pass per domain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465576" y="269748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sees only its own domain's evidence packet. Every finding must carry a public identifier.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65576" y="3730752"/>
            <a:ext cx="2221992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465576" y="380390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“Not found in public sources” when it cannot be sourced.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71616" y="187452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874520"/>
            <a:ext cx="2624328" cy="41148"/>
          </a:xfrm>
          <a:prstGeom prst="rect">
            <a:avLst/>
          </a:prstGeom>
          <a:solidFill>
            <a:srgbClr val="E8C15E"/>
          </a:solidFill>
          <a:ln/>
        </p:spPr>
      </p:sp>
      <p:sp>
        <p:nvSpPr>
          <p:cNvPr id="22" name="Shape 20"/>
          <p:cNvSpPr/>
          <p:nvPr/>
        </p:nvSpPr>
        <p:spPr>
          <a:xfrm>
            <a:off x="6272784" y="2121408"/>
            <a:ext cx="82296" cy="82296"/>
          </a:xfrm>
          <a:prstGeom prst="ellipse">
            <a:avLst/>
          </a:prstGeom>
          <a:solidFill>
            <a:srgbClr val="E8C1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20482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· 10 DIMENSIONS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72784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Judge only what was cited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72784" y="269748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trial record and the cited dossier. Never the open internet. Never its own recall.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72784" y="3730752"/>
            <a:ext cx="2221992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72784" y="380390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score that can only rest on something a reader can open.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681728"/>
            <a:ext cx="0" cy="384048"/>
          </a:xfrm>
          <a:prstGeom prst="line">
            <a:avLst/>
          </a:prstGeom>
          <a:noFill/>
          <a:ln w="28575">
            <a:solidFill>
              <a:srgbClr val="5EE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572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on the report comes from the model's recall — if the evidence does not exist, the report says so,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 score goes down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graph in the middle is not a picture of the run. </a:t>
            </a:r>
            <a:pPr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the run.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light in the order the server actually works.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that never fires never lights.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grows.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retrieval attaches the document it found — 15 nodes idle, 34 with a full dossier.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with structure opens into its own graph.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becomes the weighted rubric as a body with mass.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657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 renders in space.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architecture on the turns, from a sequence the server actually returned.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2,356 lines of first-party rendering code. No WebGL library, no CDN, no third-party JavaScript in the browser at all.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87452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3108960"/>
            <a:ext cx="2194560" cy="0"/>
          </a:xfrm>
          <a:prstGeom prst="line">
            <a:avLst/>
          </a:prstGeom>
          <a:noFill/>
          <a:ln w="12700">
            <a:solidFill>
              <a:srgbClr val="2C3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2624328"/>
            <a:ext cx="54864" cy="54864"/>
          </a:xfrm>
          <a:prstGeom prst="ellipse">
            <a:avLst/>
          </a:prstGeom>
          <a:solidFill>
            <a:srgbClr val="B7A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3465576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22592" y="2761488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6176" y="2825496"/>
            <a:ext cx="54864" cy="54864"/>
          </a:xfrm>
          <a:prstGeom prst="ellipse">
            <a:avLst/>
          </a:prstGeom>
          <a:solidFill>
            <a:srgbClr val="B7A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3355848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9832" y="2715768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3282696"/>
            <a:ext cx="54864" cy="54864"/>
          </a:xfrm>
          <a:prstGeom prst="ellipse">
            <a:avLst/>
          </a:prstGeom>
          <a:solidFill>
            <a:srgbClr val="B7A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2807208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3429000"/>
            <a:ext cx="54864" cy="54864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4" name="Shape 22"/>
          <p:cNvSpPr/>
          <p:nvPr/>
        </p:nvSpPr>
        <p:spPr>
          <a:xfrm>
            <a:off x="8668512" y="2880360"/>
            <a:ext cx="54864" cy="54864"/>
          </a:xfrm>
          <a:prstGeom prst="ellipse">
            <a:avLst/>
          </a:prstGeom>
          <a:solidFill>
            <a:srgbClr val="B7A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4456" y="3054096"/>
            <a:ext cx="109728" cy="109728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3368" y="3054096"/>
            <a:ext cx="109728" cy="109728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12280" y="3054096"/>
            <a:ext cx="109728" cy="109728"/>
          </a:xfrm>
          <a:prstGeom prst="ellipse">
            <a:avLst/>
          </a:prstGeom>
          <a:solidFill>
            <a:srgbClr val="F0A07A"/>
          </a:solidFill>
          <a:ln/>
        </p:spPr>
      </p:sp>
      <p:sp>
        <p:nvSpPr>
          <p:cNvPr id="28" name="Shape 26"/>
          <p:cNvSpPr/>
          <p:nvPr/>
        </p:nvSpPr>
        <p:spPr>
          <a:xfrm>
            <a:off x="7251192" y="3054096"/>
            <a:ext cx="109728" cy="109728"/>
          </a:xfrm>
          <a:prstGeom prst="ellipse">
            <a:avLst/>
          </a:prstGeom>
          <a:solidFill>
            <a:srgbClr val="F0A07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90104" y="3054096"/>
            <a:ext cx="109728" cy="109728"/>
          </a:xfrm>
          <a:prstGeom prst="ellipse">
            <a:avLst/>
          </a:prstGeom>
          <a:solidFill>
            <a:srgbClr val="E8C15E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9016" y="3054096"/>
            <a:ext cx="109728" cy="109728"/>
          </a:xfrm>
          <a:prstGeom prst="ellipse">
            <a:avLst/>
          </a:prstGeom>
          <a:solidFill>
            <a:srgbClr val="8FE8A0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 15 / 34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filling as evidence lands — the Benchling-backed construct view sits directly beneath it in the lab.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CLAIM, OPENED ALL THE WAY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clicks from a number on a dashboard to </a:t>
            </a:r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shell command you can paste.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93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β-thalassemia pathophysiology is consistently described, and co-inheritance of α-thalassemia ameliorates phenotype.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323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·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PMC5583283  PMC12672394  NCT06291961 — each one resolvable, each one openable.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352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·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Disease Context &amp; Mechanism, at 85% confidence, with the extractor's own reasoning recorded verbatim.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381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by ·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7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-s pmc,arxiv "CS-101 β-thalassemia Major …" → 5,498 chars, then map/reduce extraction → 24,025 chars.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9525">
            <a:solidFill>
              <a:srgbClr val="2C3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410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9044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·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claude-opus-5 · effort high · rubric v2.0.0 · dossier v1.0.0, with a full run trace on disk.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53712"/>
            <a:ext cx="0" cy="457200"/>
          </a:xfrm>
          <a:prstGeom prst="line">
            <a:avLst/>
          </a:prstGeom>
          <a:noFill/>
          <a:ln w="28575">
            <a:solidFill>
              <a:srgbClr val="B7A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4439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claim in every report has this — not a sample,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 of them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 A missing link is shown as missing, never filled with something plausible.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RUN I AM LEAST COMFORTABLE WITH — WHICH IS WHY IT IS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CS-101 · base-edited HSC therapy for β-thalassemia major · Phase 2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4892040" cy="2880360"/>
        </p:xfrm>
        <a:graphic>
          <a:graphicData uri="http://schemas.openxmlformats.org/drawingml/2006/table">
            <a:tbl>
              <a:tblPr/>
              <a:tblGrid>
                <a:gridCol w="2788920"/>
                <a:gridCol w="777240"/>
                <a:gridCol w="1325880"/>
              </a:tblGrid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DIMENSION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Context &amp;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8FE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moderate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Design &amp; Regulatory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7C0D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Immunogenicity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7C0D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Integrity &amp;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7C0D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Efficacy &amp; Clinical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Tolerability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Genetic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Biodistribution &amp; Pharmacology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Manufacturability &amp; CMC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261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PK/PD &amp; Dosing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/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6235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1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 OF TRIAL SUCCESS · 24–56 · CONFIDENCE LOW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23560" y="2743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of ten dimensions come back </a:t>
            </a:r>
            <a:pPr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one that scores well is about the disease — thirty years deep in the literature. Every dimension about the product scores 2/5, because the clinical data isn't public yet.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23560" y="3840480"/>
            <a:ext cx="3063240" cy="713232"/>
          </a:xfrm>
          <a:prstGeom prst="roundRect">
            <a:avLst>
              <a:gd name="adj" fmla="val 6410"/>
            </a:avLst>
          </a:prstGeom>
          <a:solidFill>
            <a:srgbClr val="0D0F14"/>
          </a:solidFill>
          <a:ln w="19050">
            <a:solidFill>
              <a:srgbClr val="E255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39136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7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(strength === 'absent' &amp;&amp; score &gt; 3) score = 3;
</a:t>
            </a:r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B7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clamp(point, low, high);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returns 40% and shows you exactly which nine boxes are empty has told you something true and actionable. A confident 68% borrowing Casgevy's safety profile would have told you nothing — twice. The ceiling is enforced in code, not a prompt.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REAL RUNS, FOR CALIBRATION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spread is </a:t>
            </a:r>
            <a:pPr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 coverage</a:t>
            </a:r>
            <a:pPr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, not enthusiasm.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141732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640080"/>
                <a:gridCol w="1280160"/>
                <a:gridCol w="1371600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PROGRAMME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INDICATION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PHASE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VERDICT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89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CONFIDENCE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NTLA-2001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Hereditary ATTR amyloidosis · in vivo CRISPR knockout of hepatic TTR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FE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58% (40–72)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β-thalassemia major · base-edited HSC therapy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8C1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 (24–56)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CTX112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r/r B-cell malignancy · allogeneic CD19 CAR-T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55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28% (15–42)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7C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NTLA-2001 scores highest not because it is the most exciting science, but because the ATTR precedent set is unusually rich. The reviewer still refuses to score efficacy on presumption: no primary Phase 1 dataset with per-cohort TTR reductions was retrievable,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report says so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CTX112 consumed 31 retrieval commands, 29 cited sources and 207,641 tokens of context to arrive at 28%. The expense is the point: it looked as hard as it could and reported what it found.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DOES NOT 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system that will not say what it cannot do </a:t>
            </a:r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has not earned the right</a:t>
            </a:r>
            <a:pPr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to say what it can.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920240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regulatory decision.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review is a human, deliberative process with access to the confidential IND that CLARITY by construction cannot see.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knows what is public.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reason a Phase 1/2 asset scores low is that its own clinical data has not been published — a statement about the evidence, not the science.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3017520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match patients to trials.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carries no site or eligibility geography. Building a screening widget on data we do not have is the exact failure the system exists to prevent.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 on benchmarks.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reviews is a position, not a distribution — and the interface says so out loud instead of drawing a histogram from six points.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4114800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is a model.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rubric, weights, phase gates and guardrails are code. The judgement inside a domain is Claude's — the proof chain exists so you can overrule it.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HOLDS UP UNDER SOMEONE WHO KNOWS THE FIELD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parts that must not be a model's opinion </a:t>
            </a:r>
            <a:pPr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 not one.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093976"/>
            <a:ext cx="82296" cy="82296"/>
          </a:xfrm>
          <a:prstGeom prst="ellipse">
            <a:avLst/>
          </a:prstGeom>
          <a:solidFill>
            <a:srgbClr val="8FE8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rubric is arithmetic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3575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weighted dimensions, scored 1–5 against explicit anchors. Weights sum to 1.0, and the module refuses to load if they do not.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2093976"/>
            <a:ext cx="82296" cy="82296"/>
          </a:xfrm>
          <a:prstGeom prst="ellipse">
            <a:avLst/>
          </a:prstGeom>
          <a:solidFill>
            <a:srgbClr val="5EEAE0"/>
          </a:solidFill>
          <a:ln/>
        </p:spPr>
      </p:sp>
      <p:sp>
        <p:nvSpPr>
          <p:cNvPr id="10" name="Text 8"/>
          <p:cNvSpPr/>
          <p:nvPr/>
        </p:nvSpPr>
        <p:spPr>
          <a:xfrm>
            <a:off x="5093208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domains are phase-gated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2331720"/>
            <a:ext cx="3575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CLARITY domains, activating at preclinical, Phase 1, 2 or 3. A preclinical asset is never asked for postmarketing controls it cannot have.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529584"/>
            <a:ext cx="82296" cy="82296"/>
          </a:xfrm>
          <a:prstGeom prst="ellipse">
            <a:avLst/>
          </a:prstGeom>
          <a:solidFill>
            <a:srgbClr val="F0A07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447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run leaves a 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767328"/>
            <a:ext cx="3575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record per run, and an optional full trace with prompts, outputs, timing and token usage. Reviews dedupe in flight.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310128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029"/>
          </a:solidFill>
          <a:ln w="9525">
            <a:solidFill>
              <a:srgbClr val="2C334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3529584"/>
            <a:ext cx="82296" cy="82296"/>
          </a:xfrm>
          <a:prstGeom prst="ellipse">
            <a:avLst/>
          </a:prstGeom>
          <a:solidFill>
            <a:srgbClr val="E8C15E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208" y="3447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degrades honestly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767328"/>
            <a:ext cx="3575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canvas context → the flat SVG topology renders. No EventSource → the run says so. Read-only filesystem → the review stays in memory.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tests covering the API surface, citation grammars, evidence assembly, traces, run guards and the whole render path.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Argue with </a:t>
            </a:r>
            <a:pPr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number</a:t>
            </a:r>
            <a:pPr indent="0" marL="0">
              <a:buNone/>
            </a:pPr>
            <a:r>
              <a:rPr lang="en-US" sz="4200" dirty="0">
                <a:solidFill>
                  <a:srgbClr val="F5F7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design partners who will run their own programme through CLARITY and push back on what it returns —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teams, translational investors, and disease foundations deciding where a grant goes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whole point of the proof chain is that now they can.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ACTORS, NEVER TOUCHING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685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the moat, not the model.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756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PROGRAMMES READY TO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3685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cell therapy · 40 gene therapy, eight areas.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5E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ID TO START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3685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NCT number and watch the board fill.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3931920" cy="365760"/>
          </a:xfrm>
          <a:prstGeom prst="roundRect">
            <a:avLst>
              <a:gd name="adj" fmla="val 15000"/>
            </a:avLst>
          </a:prstGeom>
          <a:ln w="12700">
            <a:solidFill>
              <a:srgbClr val="E8C15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43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 — raise, round, use of funds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4160520"/>
            <a:ext cx="3840480" cy="365760"/>
          </a:xfrm>
          <a:prstGeom prst="roundRect">
            <a:avLst>
              <a:gd name="adj" fmla="val 15000"/>
            </a:avLst>
          </a:prstGeom>
          <a:ln w="12700">
            <a:solidFill>
              <a:srgbClr val="E8C15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7091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 — name, contact, live URL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assessments are decision support, not regulatory advice.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8326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8326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2026-08-16T14:03:34Z</dcterms:created>
  <dcterms:modified xsi:type="dcterms:W3CDTF">2026-08-16T14:03:34Z</dcterms:modified>
</cp:coreProperties>
</file>