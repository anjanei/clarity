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 — Ninety-two out of every hundred drugs that enter human trials never reach a patient. Not because the science was bad. Often nobody could tell in time. I'm building CLARITY: point it at a registry ID, and it hands back the file a reviewer would want on their desk — with every claim traceable to a document you can 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 — That 7.9% is BIO's, across a decade. The capitalised cost of one survivor is 2.6 billion dollars. Behind the numbers is a queue — and in our catalog there are 118 programmes that might change a trajectory like that, almost all Phase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1:05 — Several days of specialist time. Not reproducible. Land the line: the bottleneck is not intelligence, it is audit. Then pause.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1:50 — It will answer well about pembrolizumab, and with identical confidence about the CAR-T that has published nothing. In a regulatory context that's worse than useless.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2:25 — Retrieval is one system. Extraction is a second pass that sees only one domain's packet and must attach a public identifier. Scoring is a third pass that sees only the trial record and the cited dossier. That constraint is not a design preference — it is the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2:50 — Say it in one breath: find, read, judge. The only unusual thing is the dashed line — each step is handed only what the step before it found, which is why nothing in the report can come from the model's memory. Then move on; don't linger.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3:05 — This is the workstation. The graph isn't an animation playing next to the run — it is the run. Every retrieval attaches the document it found, so the graph visibly grows.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3:25 — Claim, to citations, to the extraction with its own confidence, to the literal search command, to the model and rubric version. A broken chain shown honestly is the difference between provenance and decoration.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3:50 — This is the slide that makes the case. Don't rush the table. Land “told you nothing — twice,” then show that the ceiling is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4:15 — Cut this slide first if you are over time. Its job is only to show the numbers move for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4:30 — Optional out loud, but leave it on screen during Q&amp;A. Stating the boundary is what buys the rest of the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4:35 — Compress hard if you are short. The one sentence that must survive: the rubric refuses to load if the weights don't sum to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4:35 — Replace both amber placeholders before you present. Close on “argue with the number” — it is the invitation, and it is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EE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RETRIEVAL BY PAPERCLIP · REASONING BY CLAUDE · STRUCTURE BY BENCHLING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7680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 FDA-grade </a:t>
            </a:r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review room</a:t>
            </a:r>
            <a:pPr indent="0" marL="0">
              <a:lnSpc>
                <a:spcPct val="102000"/>
              </a:lnSpc>
              <a:buNone/>
            </a:pPr>
            <a:r>
              <a:rPr lang="en-US" sz="40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for clinical trials.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606040"/>
            <a:ext cx="6949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a registry ID. CLARITY turns the public record into the file a reviewer would want on their desk — registry facts, FDA precedent, primary literature, a cited nine-domain dossier, and an approval-risk call that shows the weakest argument first.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57200" y="370332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5EE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118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42519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99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PROGRAMMES IN CATALOG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00400" y="370332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5EE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200400" y="42519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99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WEIGHTED RUBRIC DIMENSIONS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370332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5EE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5943600" y="42519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99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THIRD-PARTY SCRIPTS IN BROWSER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138160" y="48326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13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48326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CLARITY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25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STAKE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30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92</a:t>
            </a:r>
            <a:pPr indent="0" marL="0">
              <a:lnSpc>
                <a:spcPct val="104000"/>
              </a:lnSpc>
              <a:buNone/>
            </a:pPr>
            <a:r>
              <a:rPr lang="en-US" sz="30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of every </a:t>
            </a:r>
            <a:pPr indent="0" marL="0">
              <a:lnSpc>
                <a:spcPct val="104000"/>
              </a:lnSpc>
              <a:buNone/>
            </a:pPr>
            <a:r>
              <a:rPr lang="en-US" sz="30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100</a:t>
            </a:r>
            <a:pPr indent="0" marL="0">
              <a:lnSpc>
                <a:spcPct val="104000"/>
              </a:lnSpc>
              <a:buNone/>
            </a:pPr>
            <a:r>
              <a:rPr lang="en-US" sz="30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drugs that enter human trials never reach a patient.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9659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E25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7.9%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99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I → APPROVAL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27706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 decade of development programmes.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37560" y="19659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E25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$2.6B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337560" y="2514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99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CAPITALISED COST PER SURVIVOR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337560" y="27706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takes to get one across the line.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217920" y="19659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E25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95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217920" y="2514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99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 OUR 118 ARE PHASE 1 OR 1/2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217920" y="27706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stage where nobody outside the sponsor can separate promising from doomed.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those numbers is a queue. A child with transfusion-dependent β-thalassemia is on a four-weekly transfusion schedule and an iron chelator for life.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 rate: BIO / Informa / QLS, Clinical Development Success Rates 2011–2020. Cost: DiMasi, Grabowski &amp; Hansen, J Health Econ 47:20–33, 2016. Phase mix: this repository's catalog.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138160" y="48326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13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48326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CLARITY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C1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IS STUCK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6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licensing team, a translational investor and a foundation are all doing </a:t>
            </a:r>
            <a:pPr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same task by hand</a:t>
            </a:r>
            <a:pPr indent="0" marL="0">
              <a:lnSpc>
                <a:spcPct val="104000"/>
              </a:lnSpc>
              <a:buNone/>
            </a:pPr>
            <a:r>
              <a:rPr lang="en-US" sz="26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today.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4937760" cy="2743200"/>
          </a:xfrm>
          <a:prstGeom prst="roundRect">
            <a:avLst>
              <a:gd name="adj" fmla="val 2667"/>
            </a:avLst>
          </a:prstGeom>
          <a:solidFill>
            <a:srgbClr val="1B2029"/>
          </a:solidFill>
          <a:ln w="9525">
            <a:solidFill>
              <a:srgbClr val="2C334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0574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C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pPr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job, as done now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423160"/>
            <a:ext cx="4389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registry record. Find the Phase 1 publication, if it exists. Pull the FDA review package for the nearest approved product in the class. Notice nobody published per-cohort dosing. Form a probability. Write it down.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370332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justify it to someone who </a:t>
            </a:r>
            <a:pPr indent="0" marL="0">
              <a:lnSpc>
                <a:spcPct val="130000"/>
              </a:lnSpc>
              <a:buNone/>
            </a:pPr>
            <a:r>
              <a:rPr lang="en-US" sz="1200" b="1" i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ask “where did that come from?”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0" y="19659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E8C1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669280" y="25146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99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 SPECIALIST TIME, PER PROGRAMME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69280" y="28803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E8C1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5669280" y="34290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99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 IT REPRODUCIBLE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0" y="368503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analysts reading the same literature reach different numbers, and neither can hand over the trail that got them there.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4681728"/>
            <a:ext cx="0" cy="384048"/>
          </a:xfrm>
          <a:prstGeom prst="line">
            <a:avLst/>
          </a:prstGeom>
          <a:noFill/>
          <a:ln w="28575">
            <a:solidFill>
              <a:srgbClr val="E8C1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59028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bottleneck on capital reaching good science is not intelligence. It is </a:t>
            </a:r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audit</a:t>
            </a:r>
            <a:pPr indent="0" marL="0">
              <a:buNone/>
            </a:pPr>
            <a:r>
              <a:rPr lang="en-US" sz="15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38160" y="48326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13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48326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CLARITY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25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OBVIOUS SOLUTION, AND HOW IT FAILS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30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Ask a language model. </a:t>
            </a:r>
            <a:pPr indent="0" marL="0">
              <a:lnSpc>
                <a:spcPct val="104000"/>
              </a:lnSpc>
              <a:buNone/>
            </a:pPr>
            <a:r>
              <a:rPr lang="en-US" sz="30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It will answer.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1B2029"/>
          </a:solidFill>
          <a:ln w="9525">
            <a:solidFill>
              <a:srgbClr val="2C334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08483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E8A0"/>
                </a:solidFill>
              </a:rPr>
              <a:t>●  </a:t>
            </a:r>
            <a:pPr indent="0" marL="0">
              <a:buNone/>
            </a:pPr>
            <a:r>
              <a:rPr lang="en-US" sz="1300" b="1" dirty="0">
                <a:solidFill>
                  <a:srgbClr val="F5F7FA"/>
                </a:solidFill>
              </a:rPr>
              <a:t>Pembrolizumab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4231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Decades of published trials, labels and review packages. The model answers well.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92024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1B2029"/>
          </a:solidFill>
          <a:ln w="9525">
            <a:solidFill>
              <a:srgbClr val="2C334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83480" y="2084832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2554A"/>
                </a:solidFill>
              </a:rPr>
              <a:t>●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5F7FA"/>
                </a:solidFill>
              </a:rPr>
              <a:t>A Phase 1/2 allogeneic CAR-T, 11 weeks old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983480" y="265176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registry record filed. Nothing published. The model answers with </a:t>
            </a:r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confidence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fluent register. Same air of authority.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signal whatsoever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distinguishing the recalled fact from the plausible invention.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681728"/>
            <a:ext cx="0" cy="384048"/>
          </a:xfrm>
          <a:prstGeom prst="line">
            <a:avLst/>
          </a:prstGeom>
          <a:noFill/>
          <a:ln w="28575">
            <a:solidFill>
              <a:srgbClr val="E255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45720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 opinion you cannot audit is not a weak opinion — it is </a:t>
            </a:r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liability that looks like an asset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138160" y="48326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13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48326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CLARITY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EE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INSIGHT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30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It is not a reasoning failure. It is a </a:t>
            </a:r>
            <a:pPr indent="0" marL="0">
              <a:lnSpc>
                <a:spcPct val="104000"/>
              </a:lnSpc>
              <a:buNone/>
            </a:pPr>
            <a:r>
              <a:rPr lang="en-US" sz="30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provenance</a:t>
            </a:r>
            <a:pPr indent="0" marL="0">
              <a:lnSpc>
                <a:spcPct val="104000"/>
              </a:lnSpc>
              <a:buNone/>
            </a:pPr>
            <a:r>
              <a:rPr lang="en-US" sz="30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failure.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2624328" cy="2331720"/>
          </a:xfrm>
          <a:prstGeom prst="roundRect">
            <a:avLst>
              <a:gd name="adj" fmla="val 3137"/>
            </a:avLst>
          </a:prstGeom>
          <a:solidFill>
            <a:srgbClr val="1B2029"/>
          </a:solidFill>
          <a:ln w="9525">
            <a:solidFill>
              <a:srgbClr val="2C334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874520"/>
            <a:ext cx="2624328" cy="41148"/>
          </a:xfrm>
          <a:prstGeom prst="rect">
            <a:avLst/>
          </a:prstGeom>
          <a:solidFill>
            <a:srgbClr val="5EEAE0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2121408"/>
            <a:ext cx="82296" cy="82296"/>
          </a:xfrm>
          <a:prstGeom prst="ellipse">
            <a:avLst/>
          </a:prstGeom>
          <a:solidFill>
            <a:srgbClr val="5EEAE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48256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EE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RETRIEVAL · PAPERCLIP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" y="2331720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Find everything public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8368" y="269748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Registries, FDA reviews, PMC and bioRxiv, US and international trial indexes.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58368" y="3730752"/>
            <a:ext cx="2221992" cy="0"/>
          </a:xfrm>
          <a:prstGeom prst="line">
            <a:avLst/>
          </a:prstGeom>
          <a:noFill/>
          <a:ln w="9525">
            <a:solidFill>
              <a:srgbClr val="2C3341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658368" y="3803904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99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Whatever this returns is the entire universe of available facts.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64408" y="1874520"/>
            <a:ext cx="2624328" cy="2331720"/>
          </a:xfrm>
          <a:prstGeom prst="roundRect">
            <a:avLst>
              <a:gd name="adj" fmla="val 3137"/>
            </a:avLst>
          </a:prstGeom>
          <a:solidFill>
            <a:srgbClr val="1B2029"/>
          </a:solidFill>
          <a:ln w="9525">
            <a:solidFill>
              <a:srgbClr val="2C334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64408" y="1874520"/>
            <a:ext cx="2624328" cy="41148"/>
          </a:xfrm>
          <a:prstGeom prst="rect">
            <a:avLst/>
          </a:prstGeom>
          <a:solidFill>
            <a:srgbClr val="F0A07A"/>
          </a:solidFill>
          <a:ln/>
        </p:spPr>
      </p:sp>
      <p:sp>
        <p:nvSpPr>
          <p:cNvPr id="14" name="Shape 12"/>
          <p:cNvSpPr/>
          <p:nvPr/>
        </p:nvSpPr>
        <p:spPr>
          <a:xfrm>
            <a:off x="3465576" y="2121408"/>
            <a:ext cx="82296" cy="82296"/>
          </a:xfrm>
          <a:prstGeom prst="ellipse">
            <a:avLst/>
          </a:prstGeom>
          <a:solidFill>
            <a:srgbClr val="F0A07A"/>
          </a:solidFill>
          <a:ln/>
        </p:spPr>
      </p:sp>
      <p:sp>
        <p:nvSpPr>
          <p:cNvPr id="15" name="Text 13"/>
          <p:cNvSpPr/>
          <p:nvPr/>
        </p:nvSpPr>
        <p:spPr>
          <a:xfrm>
            <a:off x="3630168" y="2048256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F0A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EXTRACTION · 9 DOMAINS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465576" y="2331720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One pass per domain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465576" y="269748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pass sees only its own domain's evidence packet. Every finding must carry a public identifier.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465576" y="3730752"/>
            <a:ext cx="2221992" cy="0"/>
          </a:xfrm>
          <a:prstGeom prst="line">
            <a:avLst/>
          </a:prstGeom>
          <a:noFill/>
          <a:ln w="9525">
            <a:solidFill>
              <a:srgbClr val="2C3341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3465576" y="3803904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99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“Not found in public sources” when it cannot be sourced.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71616" y="1874520"/>
            <a:ext cx="2624328" cy="2331720"/>
          </a:xfrm>
          <a:prstGeom prst="roundRect">
            <a:avLst>
              <a:gd name="adj" fmla="val 3137"/>
            </a:avLst>
          </a:prstGeom>
          <a:solidFill>
            <a:srgbClr val="1B2029"/>
          </a:solidFill>
          <a:ln w="9525">
            <a:solidFill>
              <a:srgbClr val="2C334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71616" y="1874520"/>
            <a:ext cx="2624328" cy="41148"/>
          </a:xfrm>
          <a:prstGeom prst="rect">
            <a:avLst/>
          </a:prstGeom>
          <a:solidFill>
            <a:srgbClr val="E8C15E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2121408"/>
            <a:ext cx="82296" cy="82296"/>
          </a:xfrm>
          <a:prstGeom prst="ellipse">
            <a:avLst/>
          </a:prstGeom>
          <a:solidFill>
            <a:srgbClr val="E8C15E"/>
          </a:solidFill>
          <a:ln/>
        </p:spPr>
      </p:sp>
      <p:sp>
        <p:nvSpPr>
          <p:cNvPr id="23" name="Text 21"/>
          <p:cNvSpPr/>
          <p:nvPr/>
        </p:nvSpPr>
        <p:spPr>
          <a:xfrm>
            <a:off x="6437376" y="2048256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E8C1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SCORING · 10 DIMENSIONS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272784" y="2331720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Judge only what was cited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272784" y="269748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the trial record and the cited dossier. Never the open internet. Never its own recall.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72784" y="3730752"/>
            <a:ext cx="2221992" cy="0"/>
          </a:xfrm>
          <a:prstGeom prst="line">
            <a:avLst/>
          </a:prstGeom>
          <a:noFill/>
          <a:ln w="9525">
            <a:solidFill>
              <a:srgbClr val="2C3341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272784" y="3803904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99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score that can only rest on something a reader can open.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57200" y="4681728"/>
            <a:ext cx="0" cy="384048"/>
          </a:xfrm>
          <a:prstGeom prst="line">
            <a:avLst/>
          </a:prstGeom>
          <a:noFill/>
          <a:ln w="28575">
            <a:solidFill>
              <a:srgbClr val="5EEA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45720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Nothing on the report comes from the model's recall — if the evidence does not exist, the report says so,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and the score goes down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138160" y="48326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7200" y="48326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CLARITY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EE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SAME IDEA, WITHOUT THE JARGON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30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happens when you press </a:t>
            </a:r>
            <a:pPr indent="0" marL="0">
              <a:lnSpc>
                <a:spcPct val="104000"/>
              </a:lnSpc>
              <a:buNone/>
            </a:pPr>
            <a:r>
              <a:rPr lang="en-US" sz="30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run</a:t>
            </a:r>
            <a:pPr indent="0" marL="0">
              <a:lnSpc>
                <a:spcPct val="104000"/>
              </a:lnSpc>
              <a:buNone/>
            </a:pPr>
            <a:r>
              <a:rPr lang="en-US" sz="30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2212848"/>
            <a:ext cx="777240" cy="502920"/>
          </a:xfrm>
          <a:prstGeom prst="roundRect">
            <a:avLst>
              <a:gd name="adj" fmla="val 10909"/>
            </a:avLst>
          </a:prstGeom>
          <a:solidFill>
            <a:srgbClr val="0D0F14"/>
          </a:solidFill>
          <a:ln w="9525">
            <a:solidFill>
              <a:srgbClr val="2C33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" y="224942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899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GIVE IT</a:t>
            </a:r>
            <a:endParaRPr lang="en-US" sz="650" dirty="0"/>
          </a:p>
        </p:txBody>
      </p:sp>
      <p:sp>
        <p:nvSpPr>
          <p:cNvPr id="6" name="Text 4"/>
          <p:cNvSpPr/>
          <p:nvPr/>
        </p:nvSpPr>
        <p:spPr>
          <a:xfrm>
            <a:off x="475488" y="242316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trial number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914400" y="1828800"/>
            <a:ext cx="2148840" cy="1234440"/>
          </a:xfrm>
          <a:prstGeom prst="roundRect">
            <a:avLst>
              <a:gd name="adj" fmla="val 6667"/>
            </a:avLst>
          </a:prstGeom>
          <a:solidFill>
            <a:srgbClr val="1B2029"/>
          </a:solidFill>
          <a:ln w="12700">
            <a:solidFill>
              <a:srgbClr val="5EEA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1938528"/>
            <a:ext cx="185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EE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60704" y="2121408"/>
            <a:ext cx="1856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Find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060704" y="2468880"/>
            <a:ext cx="1892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everything ever published</a:t>
            </a:r>
            <a:endParaRPr lang="en-US" sz="9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drug — registries,</a:t>
            </a:r>
            <a:endParaRPr lang="en-US" sz="9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files, medical journals.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090672" y="2391156"/>
            <a:ext cx="146304" cy="109728"/>
          </a:xfrm>
          <a:prstGeom prst="rightArrow">
            <a:avLst/>
          </a:prstGeom>
          <a:solidFill>
            <a:srgbClr val="8993A6"/>
          </a:solidFill>
          <a:ln/>
        </p:spPr>
      </p:sp>
      <p:sp>
        <p:nvSpPr>
          <p:cNvPr id="12" name="Shape 10"/>
          <p:cNvSpPr/>
          <p:nvPr/>
        </p:nvSpPr>
        <p:spPr>
          <a:xfrm>
            <a:off x="3264408" y="1828800"/>
            <a:ext cx="2148840" cy="1234440"/>
          </a:xfrm>
          <a:prstGeom prst="roundRect">
            <a:avLst>
              <a:gd name="adj" fmla="val 6667"/>
            </a:avLst>
          </a:prstGeom>
          <a:solidFill>
            <a:srgbClr val="1B2029"/>
          </a:solidFill>
          <a:ln w="12700">
            <a:solidFill>
              <a:srgbClr val="F0A0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10712" y="1938528"/>
            <a:ext cx="185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0A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3410712" y="2121408"/>
            <a:ext cx="1856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Read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410712" y="2468880"/>
            <a:ext cx="1892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topic by topic and write down</a:t>
            </a:r>
            <a:endParaRPr lang="en-US" sz="9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known — pinning the</a:t>
            </a:r>
            <a:endParaRPr lang="en-US" sz="9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to every single fact.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40680" y="2391156"/>
            <a:ext cx="146304" cy="109728"/>
          </a:xfrm>
          <a:prstGeom prst="rightArrow">
            <a:avLst/>
          </a:prstGeom>
          <a:solidFill>
            <a:srgbClr val="8993A6"/>
          </a:solidFill>
          <a:ln/>
        </p:spPr>
      </p:sp>
      <p:sp>
        <p:nvSpPr>
          <p:cNvPr id="17" name="Shape 15"/>
          <p:cNvSpPr/>
          <p:nvPr/>
        </p:nvSpPr>
        <p:spPr>
          <a:xfrm>
            <a:off x="5614416" y="1828800"/>
            <a:ext cx="2148840" cy="1234440"/>
          </a:xfrm>
          <a:prstGeom prst="roundRect">
            <a:avLst>
              <a:gd name="adj" fmla="val 6667"/>
            </a:avLst>
          </a:prstGeom>
          <a:solidFill>
            <a:srgbClr val="1B2029"/>
          </a:solidFill>
          <a:ln w="12700">
            <a:solidFill>
              <a:srgbClr val="E8C1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1938528"/>
            <a:ext cx="185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E8C1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3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760720" y="2121408"/>
            <a:ext cx="1856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Judge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760720" y="2468880"/>
            <a:ext cx="1892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it against the same fixed</a:t>
            </a:r>
            <a:endParaRPr lang="en-US" sz="9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every time, using only</a:t>
            </a:r>
            <a:endParaRPr lang="en-US" sz="9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sourced notes.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808976" y="2391156"/>
            <a:ext cx="146304" cy="109728"/>
          </a:xfrm>
          <a:prstGeom prst="rightArrow">
            <a:avLst/>
          </a:prstGeom>
          <a:solidFill>
            <a:srgbClr val="8993A6"/>
          </a:solidFill>
          <a:ln/>
        </p:spPr>
      </p:sp>
      <p:sp>
        <p:nvSpPr>
          <p:cNvPr id="22" name="Shape 20"/>
          <p:cNvSpPr/>
          <p:nvPr/>
        </p:nvSpPr>
        <p:spPr>
          <a:xfrm>
            <a:off x="7991856" y="2084832"/>
            <a:ext cx="1170432" cy="768096"/>
          </a:xfrm>
          <a:prstGeom prst="roundRect">
            <a:avLst>
              <a:gd name="adj" fmla="val 8333"/>
            </a:avLst>
          </a:prstGeom>
          <a:solidFill>
            <a:srgbClr val="1B2029"/>
          </a:solidFill>
          <a:ln w="12700">
            <a:solidFill>
              <a:srgbClr val="8FE8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10728" y="213055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50" kern="0" dirty="0">
                <a:solidFill>
                  <a:srgbClr val="8FE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GET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110728" y="2304288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score, and a report where every line is clickable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914400" y="3209544"/>
            <a:ext cx="6848856" cy="310896"/>
          </a:xfrm>
          <a:prstGeom prst="roundRect">
            <a:avLst>
              <a:gd name="adj" fmla="val 14706"/>
            </a:avLst>
          </a:prstGeom>
          <a:ln w="12700">
            <a:solidFill>
              <a:srgbClr val="E2554A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914400" y="3209544"/>
            <a:ext cx="6848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5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each step is only ever shown what the step before it found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4590288"/>
            <a:ext cx="0" cy="457200"/>
          </a:xfrm>
          <a:prstGeom prst="line">
            <a:avLst/>
          </a:prstGeom>
          <a:noFill/>
          <a:ln w="28575">
            <a:solidFill>
              <a:srgbClr val="5EEA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" y="4517136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 nothing in the report can come from the model's memory. If the evidence isn't out there, it says so —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and the score goes down.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38160" y="48326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13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7200" y="48326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CLARITY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8FE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PRODUCT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6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graph in the middle is not a picture of the run. </a:t>
            </a:r>
            <a:pPr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It is the run.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87452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E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187452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light in the order the server actually works.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stage that never fires never lights.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E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246888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grows.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retrieval attaches the document it found — 15 nodes idle, 34 with a full dossier.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0632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E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306324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with structure opens into its own graph.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becomes the weighted rubric as a body with mass.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65760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E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3232" y="36576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construct renders in space.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architecture on the turns, from a sequence the server actually returned.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34340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9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2,356 lines of first-party rendering code. No WebGL library, no CDN, no third-party JavaScript in the browser at all.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0" y="1874520"/>
            <a:ext cx="3200400" cy="2880360"/>
          </a:xfrm>
          <a:prstGeom prst="roundRect">
            <a:avLst>
              <a:gd name="adj" fmla="val 2540"/>
            </a:avLst>
          </a:prstGeom>
          <a:solidFill>
            <a:srgbClr val="1B2029"/>
          </a:solidFill>
          <a:ln w="9525">
            <a:solidFill>
              <a:srgbClr val="2C334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3108960"/>
            <a:ext cx="2194560" cy="0"/>
          </a:xfrm>
          <a:prstGeom prst="line">
            <a:avLst/>
          </a:prstGeom>
          <a:noFill/>
          <a:ln w="12700">
            <a:solidFill>
              <a:srgbClr val="2C334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65392" y="2624328"/>
            <a:ext cx="54864" cy="54864"/>
          </a:xfrm>
          <a:prstGeom prst="ellipse">
            <a:avLst/>
          </a:prstGeom>
          <a:solidFill>
            <a:srgbClr val="B7A8F0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0" y="3465576"/>
            <a:ext cx="54864" cy="54864"/>
          </a:xfrm>
          <a:prstGeom prst="ellipse">
            <a:avLst/>
          </a:prstGeom>
          <a:solidFill>
            <a:srgbClr val="5EEAE0"/>
          </a:solidFill>
          <a:ln/>
        </p:spPr>
      </p:sp>
      <p:sp>
        <p:nvSpPr>
          <p:cNvPr id="17" name="Shape 15"/>
          <p:cNvSpPr/>
          <p:nvPr/>
        </p:nvSpPr>
        <p:spPr>
          <a:xfrm>
            <a:off x="7022592" y="2761488"/>
            <a:ext cx="54864" cy="54864"/>
          </a:xfrm>
          <a:prstGeom prst="ellipse">
            <a:avLst/>
          </a:prstGeom>
          <a:solidFill>
            <a:srgbClr val="5EEAE0"/>
          </a:solidFill>
          <a:ln/>
        </p:spPr>
      </p:sp>
      <p:sp>
        <p:nvSpPr>
          <p:cNvPr id="18" name="Shape 16"/>
          <p:cNvSpPr/>
          <p:nvPr/>
        </p:nvSpPr>
        <p:spPr>
          <a:xfrm>
            <a:off x="8266176" y="2825496"/>
            <a:ext cx="54864" cy="54864"/>
          </a:xfrm>
          <a:prstGeom prst="ellipse">
            <a:avLst/>
          </a:prstGeom>
          <a:solidFill>
            <a:srgbClr val="B7A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7086600" y="3355848"/>
            <a:ext cx="54864" cy="54864"/>
          </a:xfrm>
          <a:prstGeom prst="ellipse">
            <a:avLst/>
          </a:prstGeom>
          <a:solidFill>
            <a:srgbClr val="5EEAE0"/>
          </a:solidFill>
          <a:ln/>
        </p:spPr>
      </p:sp>
      <p:sp>
        <p:nvSpPr>
          <p:cNvPr id="20" name="Shape 18"/>
          <p:cNvSpPr/>
          <p:nvPr/>
        </p:nvSpPr>
        <p:spPr>
          <a:xfrm>
            <a:off x="7799832" y="2715768"/>
            <a:ext cx="54864" cy="54864"/>
          </a:xfrm>
          <a:prstGeom prst="ellipse">
            <a:avLst/>
          </a:prstGeom>
          <a:solidFill>
            <a:srgbClr val="5EEAE0"/>
          </a:solidFill>
          <a:ln/>
        </p:spPr>
      </p:sp>
      <p:sp>
        <p:nvSpPr>
          <p:cNvPr id="21" name="Shape 19"/>
          <p:cNvSpPr/>
          <p:nvPr/>
        </p:nvSpPr>
        <p:spPr>
          <a:xfrm>
            <a:off x="8375904" y="3282696"/>
            <a:ext cx="54864" cy="54864"/>
          </a:xfrm>
          <a:prstGeom prst="ellipse">
            <a:avLst/>
          </a:prstGeom>
          <a:solidFill>
            <a:srgbClr val="B7A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9089136" y="2807208"/>
            <a:ext cx="54864" cy="54864"/>
          </a:xfrm>
          <a:prstGeom prst="ellipse">
            <a:avLst/>
          </a:prstGeom>
          <a:solidFill>
            <a:srgbClr val="5EEAE0"/>
          </a:solidFill>
          <a:ln/>
        </p:spPr>
      </p:sp>
      <p:sp>
        <p:nvSpPr>
          <p:cNvPr id="23" name="Shape 21"/>
          <p:cNvSpPr/>
          <p:nvPr/>
        </p:nvSpPr>
        <p:spPr>
          <a:xfrm>
            <a:off x="7955280" y="3429000"/>
            <a:ext cx="54864" cy="54864"/>
          </a:xfrm>
          <a:prstGeom prst="ellipse">
            <a:avLst/>
          </a:prstGeom>
          <a:solidFill>
            <a:srgbClr val="5EEAE0"/>
          </a:solidFill>
          <a:ln/>
        </p:spPr>
      </p:sp>
      <p:sp>
        <p:nvSpPr>
          <p:cNvPr id="24" name="Shape 22"/>
          <p:cNvSpPr/>
          <p:nvPr/>
        </p:nvSpPr>
        <p:spPr>
          <a:xfrm>
            <a:off x="8668512" y="2880360"/>
            <a:ext cx="54864" cy="54864"/>
          </a:xfrm>
          <a:prstGeom prst="ellipse">
            <a:avLst/>
          </a:prstGeom>
          <a:solidFill>
            <a:srgbClr val="B7A8F0"/>
          </a:solidFill>
          <a:ln/>
        </p:spPr>
      </p:sp>
      <p:sp>
        <p:nvSpPr>
          <p:cNvPr id="25" name="Shape 23"/>
          <p:cNvSpPr/>
          <p:nvPr/>
        </p:nvSpPr>
        <p:spPr>
          <a:xfrm>
            <a:off x="5934456" y="3054096"/>
            <a:ext cx="109728" cy="109728"/>
          </a:xfrm>
          <a:prstGeom prst="ellipse">
            <a:avLst/>
          </a:prstGeom>
          <a:solidFill>
            <a:srgbClr val="5EEAE0"/>
          </a:solidFill>
          <a:ln/>
        </p:spPr>
      </p:sp>
      <p:sp>
        <p:nvSpPr>
          <p:cNvPr id="26" name="Shape 24"/>
          <p:cNvSpPr/>
          <p:nvPr/>
        </p:nvSpPr>
        <p:spPr>
          <a:xfrm>
            <a:off x="6373368" y="3054096"/>
            <a:ext cx="109728" cy="109728"/>
          </a:xfrm>
          <a:prstGeom prst="ellipse">
            <a:avLst/>
          </a:prstGeom>
          <a:solidFill>
            <a:srgbClr val="5EEAE0"/>
          </a:solidFill>
          <a:ln/>
        </p:spPr>
      </p:sp>
      <p:sp>
        <p:nvSpPr>
          <p:cNvPr id="27" name="Shape 25"/>
          <p:cNvSpPr/>
          <p:nvPr/>
        </p:nvSpPr>
        <p:spPr>
          <a:xfrm>
            <a:off x="6812280" y="3054096"/>
            <a:ext cx="109728" cy="109728"/>
          </a:xfrm>
          <a:prstGeom prst="ellipse">
            <a:avLst/>
          </a:prstGeom>
          <a:solidFill>
            <a:srgbClr val="F0A07A"/>
          </a:solidFill>
          <a:ln/>
        </p:spPr>
      </p:sp>
      <p:sp>
        <p:nvSpPr>
          <p:cNvPr id="28" name="Shape 26"/>
          <p:cNvSpPr/>
          <p:nvPr/>
        </p:nvSpPr>
        <p:spPr>
          <a:xfrm>
            <a:off x="7251192" y="3054096"/>
            <a:ext cx="109728" cy="109728"/>
          </a:xfrm>
          <a:prstGeom prst="ellipse">
            <a:avLst/>
          </a:prstGeom>
          <a:solidFill>
            <a:srgbClr val="F0A07A"/>
          </a:solidFill>
          <a:ln/>
        </p:spPr>
      </p:sp>
      <p:sp>
        <p:nvSpPr>
          <p:cNvPr id="29" name="Shape 27"/>
          <p:cNvSpPr/>
          <p:nvPr/>
        </p:nvSpPr>
        <p:spPr>
          <a:xfrm>
            <a:off x="7690104" y="3054096"/>
            <a:ext cx="109728" cy="109728"/>
          </a:xfrm>
          <a:prstGeom prst="ellipse">
            <a:avLst/>
          </a:prstGeom>
          <a:solidFill>
            <a:srgbClr val="E8C15E"/>
          </a:solidFill>
          <a:ln/>
        </p:spPr>
      </p:sp>
      <p:sp>
        <p:nvSpPr>
          <p:cNvPr id="30" name="Shape 28"/>
          <p:cNvSpPr/>
          <p:nvPr/>
        </p:nvSpPr>
        <p:spPr>
          <a:xfrm>
            <a:off x="8129016" y="3054096"/>
            <a:ext cx="109728" cy="109728"/>
          </a:xfrm>
          <a:prstGeom prst="ellipse">
            <a:avLst/>
          </a:prstGeom>
          <a:solidFill>
            <a:srgbClr val="8FE8A0"/>
          </a:solidFill>
          <a:ln/>
        </p:spPr>
      </p:sp>
      <p:sp>
        <p:nvSpPr>
          <p:cNvPr id="31" name="Text 29"/>
          <p:cNvSpPr/>
          <p:nvPr/>
        </p:nvSpPr>
        <p:spPr>
          <a:xfrm>
            <a:off x="5760720" y="43708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9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nodes 15 / 34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223760" y="43708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99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retrieving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486400" y="4828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filling as evidence lands — the Benchling-backed construct view sits directly beneath it in the lab.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138160" y="48326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13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57200" y="48326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CLARITY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B7A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CLAIM, OPENED ALL THE WAY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Five clicks from a number on a dashboard to </a:t>
            </a:r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shell command you can paste.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92938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7A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8928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89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·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β-thalassemia pathophysiology is consistently described, and co-inheritance of α-thalassemia ameliorates phenotype.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8229600" cy="0"/>
          </a:xfrm>
          <a:prstGeom prst="line">
            <a:avLst/>
          </a:prstGeom>
          <a:noFill/>
          <a:ln w="9525">
            <a:solidFill>
              <a:srgbClr val="2C33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43230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7A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3957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89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·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PMC5583283  PMC12672394  NCT06291961 — each one resolvable, each one openable.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8229600" cy="0"/>
          </a:xfrm>
          <a:prstGeom prst="line">
            <a:avLst/>
          </a:prstGeom>
          <a:noFill/>
          <a:ln w="9525">
            <a:solidFill>
              <a:srgbClr val="2C334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93522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7A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89864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89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·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Disease Context &amp; Mechanism, at 85% confidence, with the extractor's own reasoning recorded verbatim.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8229600" cy="0"/>
          </a:xfrm>
          <a:prstGeom prst="line">
            <a:avLst/>
          </a:prstGeom>
          <a:noFill/>
          <a:ln w="9525">
            <a:solidFill>
              <a:srgbClr val="2C33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43814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7A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340156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i="1" dirty="0">
                <a:solidFill>
                  <a:srgbClr val="899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Retrieved by · 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B7C0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-s pmc,arxiv "CS-101 β-thalassemia Major …" → 5,498 chars, then map/reduce extraction → 24,025 chars.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886200"/>
            <a:ext cx="8229600" cy="0"/>
          </a:xfrm>
          <a:prstGeom prst="line">
            <a:avLst/>
          </a:prstGeom>
          <a:noFill/>
          <a:ln w="9525">
            <a:solidFill>
              <a:srgbClr val="2C33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94106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7A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9044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89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by ·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claude-opus-5 · effort high · rubric v2.0.0 · dossier v1.0.0, with a full run trace on disk.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553712"/>
            <a:ext cx="0" cy="457200"/>
          </a:xfrm>
          <a:prstGeom prst="line">
            <a:avLst/>
          </a:prstGeom>
          <a:noFill/>
          <a:ln w="28575">
            <a:solidFill>
              <a:srgbClr val="B7A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444398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Every claim in every report has this — not a sample,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all of them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. A missing link is shown as missing, never filled with something plausible.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38160" y="48326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13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7200" y="48326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CLARITY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C1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RUN I AM LEAST COMFORTABLE WITH — WHICH IS WHY IT IS HERE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0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CS-101 · base-edited HSC therapy for β-thalassemia major · Phase 2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4892040" cy="2880360"/>
        </p:xfrm>
        <a:graphic>
          <a:graphicData uri="http://schemas.openxmlformats.org/drawingml/2006/table">
            <a:tbl>
              <a:tblPr/>
              <a:tblGrid>
                <a:gridCol w="2788920"/>
                <a:gridCol w="777240"/>
                <a:gridCol w="1325880"/>
              </a:tblGrid>
              <a:tr h="2618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8993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DIMENSION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2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8993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8993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EVIDENCE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29"/>
                    </a:solidFill>
                  </a:tcPr>
                </a:tc>
              </a:tr>
              <a:tr h="2618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 Context &amp; Mechanism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8FE8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/ 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8993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moderate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</a:tr>
              <a:tr h="2618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 Design &amp; Regulatory Strategy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B7C0D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/ 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8993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weak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</a:tr>
              <a:tr h="2618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Immunogenicity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B7C0D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/ 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8C1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absent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</a:tr>
              <a:tr h="2618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 Integrity &amp; Governance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B7C0D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/ 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8C1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absent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</a:tr>
              <a:tr h="2618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Efficacy &amp; Clinical Evidence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255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/ 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8C1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absent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</a:tr>
              <a:tr h="2618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&amp; Tolerability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255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/ 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8C1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absent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</a:tr>
              <a:tr h="2618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 Genetic 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255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/ 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8C1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absent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</a:tr>
              <a:tr h="2618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Biodistribution &amp; Pharmacology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255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/ 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8C1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absent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</a:tr>
              <a:tr h="2618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Manufacturability &amp; CMC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255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/ 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8C1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absent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</a:tr>
              <a:tr h="2618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PK/PD &amp; Dosing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255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/ 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E8C1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absent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23560" y="16916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E8C1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40%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62356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spc="100" kern="0" dirty="0">
                <a:solidFill>
                  <a:srgbClr val="899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PROBABILITY OF TRIAL SUCCESS · 24–56 · CONFIDENCE LOW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23560" y="274320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of ten dimensions come back </a:t>
            </a:r>
            <a:pPr indent="0" marL="0">
              <a:lnSpc>
                <a:spcPct val="132000"/>
              </a:lnSpc>
              <a:buNone/>
            </a:pPr>
            <a:r>
              <a:rPr lang="en-US" sz="10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one that scores well is about the disease — thirty years deep in the literature. Every dimension about the product scores 2/5, because the clinical data isn't public yet.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23560" y="3840480"/>
            <a:ext cx="3063240" cy="713232"/>
          </a:xfrm>
          <a:prstGeom prst="roundRect">
            <a:avLst>
              <a:gd name="adj" fmla="val 6410"/>
            </a:avLst>
          </a:prstGeom>
          <a:solidFill>
            <a:srgbClr val="0D0F14"/>
          </a:solidFill>
          <a:ln w="19050">
            <a:solidFill>
              <a:srgbClr val="E255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60720" y="3913632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B7C0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(strength === 'absent' &amp;&amp; score &gt; 3) score = 3;
</a:t>
            </a:r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B7C0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 = clamp(point, low, high);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457200" y="468172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89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returns 40% and shows you exactly which nine boxes are empty has told you something true and actionable. A confident 68% borrowing Casgevy's safety profile would have told you nothing — twice. The ceiling is enforced in code, not a prompt.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138160" y="48326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13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457200" y="48326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CLARITY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EE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REAL RUNS, FOR CALIBRATION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7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spread is </a:t>
            </a:r>
            <a:pPr indent="0" marL="0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evidence coverage</a:t>
            </a:r>
            <a:pPr indent="0" marL="0">
              <a:lnSpc>
                <a:spcPct val="104000"/>
              </a:lnSpc>
              <a:buNone/>
            </a:pPr>
            <a:r>
              <a:rPr lang="en-US" sz="27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, not enthusiasm.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8229600" cy="1417320"/>
        </p:xfrm>
        <a:graphic>
          <a:graphicData uri="http://schemas.openxmlformats.org/drawingml/2006/table">
            <a:tbl>
              <a:tblPr/>
              <a:tblGrid>
                <a:gridCol w="1005840"/>
                <a:gridCol w="3931920"/>
                <a:gridCol w="640080"/>
                <a:gridCol w="1280160"/>
                <a:gridCol w="1371600"/>
              </a:tblGrid>
              <a:tr h="3543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8993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PROGRAMME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8993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INDICATION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2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8993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PHASE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2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8993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VERDICT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2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8993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CONFIDENCE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29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NTLA-2001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B7C0D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Hereditary ATTR amyloidosis · in vivo CRISPR knockout of hepatic TTR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B7C0D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FE8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58% (40–72)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B7C0D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CS-101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B7C0D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β-thalassemia major · base-edited HSC therapy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B7C0D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8C1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40% (24–56)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B7C0D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5F7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CTX112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B7C0D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r/r B-cell malignancy · allogeneic CD19 CAR-T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B7C0D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E255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28% (15–42)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B7C0D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61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4290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NTLA-2001 scores highest not because it is the most exciting science, but because the ATTR precedent set is unusually rich. The reviewer still refuses to score efficacy on presumption: no primary Phase 1 dataset with per-cohort TTR reductions was retrievable, </a:t>
            </a:r>
            <a:pPr indent="0" marL="0">
              <a:lnSpc>
                <a:spcPct val="132000"/>
              </a:lnSpc>
              <a:buNone/>
            </a:pPr>
            <a:r>
              <a:rPr lang="en-US" sz="12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report says so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9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CTX112 consumed 31 retrieval commands, 29 cited sources and 207,641 tokens of context to arrive at 28%. The expense is the point: it looked as hard as it could and reported what it found.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138160" y="48326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48326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CLARITY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25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THIS DOES NOT DO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system that will not say what it cannot do </a:t>
            </a:r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has not earned the right</a:t>
            </a:r>
            <a:pPr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to say what it can.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5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49808" y="1920240"/>
            <a:ext cx="7936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 regulatory decision.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review is a human, deliberative process with access to the confidential IND that CLARITY by construction cannot see.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5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468880"/>
            <a:ext cx="7936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only knows what is public.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reason a Phase 1/2 asset scores low is that its own clinical data has not been published — a statement about the evidence, not the science.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5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9808" y="3017520"/>
            <a:ext cx="7936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match patients to trials.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catalog carries no site or eligibility geography. Building a screening widget on data we do not have is the exact failure the system exists to prevent.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356616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5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9808" y="3566160"/>
            <a:ext cx="7936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n on benchmarks.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reviews is a position, not a distribution — and the interface says so out loud instead of drawing a histogram from six points.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41148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5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9808" y="4114800"/>
            <a:ext cx="7936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is a model.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rubric, weights, phase gates and guardrails are code. The judgement inside a domain is Claude's — the proof chain exists so you can overrule it.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138160" y="48326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48326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CLARITY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8FE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HOLDS UP UNDER SOMEONE WHO KNOWS THE FIELD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5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parts that must not be a model's opinion </a:t>
            </a:r>
            <a:pPr indent="0" marL="0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are not one.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1B2029"/>
          </a:solidFill>
          <a:ln w="9525">
            <a:solidFill>
              <a:srgbClr val="2C334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2093976"/>
            <a:ext cx="82296" cy="82296"/>
          </a:xfrm>
          <a:prstGeom prst="ellipse">
            <a:avLst/>
          </a:prstGeom>
          <a:solidFill>
            <a:srgbClr val="8FE8A0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0116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rubric is arithmetic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2331720"/>
            <a:ext cx="35753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weighted dimensions, scored 1–5 against explicit anchors. Weights sum to 1.0, and the module refuses to load if they do not.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87452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1B2029"/>
          </a:solidFill>
          <a:ln w="9525">
            <a:solidFill>
              <a:srgbClr val="2C334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10328" y="2093976"/>
            <a:ext cx="82296" cy="82296"/>
          </a:xfrm>
          <a:prstGeom prst="ellipse">
            <a:avLst/>
          </a:prstGeom>
          <a:solidFill>
            <a:srgbClr val="5EEAE0"/>
          </a:solidFill>
          <a:ln/>
        </p:spPr>
      </p:sp>
      <p:sp>
        <p:nvSpPr>
          <p:cNvPr id="10" name="Text 8"/>
          <p:cNvSpPr/>
          <p:nvPr/>
        </p:nvSpPr>
        <p:spPr>
          <a:xfrm>
            <a:off x="5093208" y="20116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domains are phase-gated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10328" y="2331720"/>
            <a:ext cx="35753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CLARITY domains, activating at preclinical, Phase 1, 2 or 3. A preclinical asset is never asked for postmarketing controls it cannot have.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310128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1B2029"/>
          </a:solidFill>
          <a:ln w="9525">
            <a:solidFill>
              <a:srgbClr val="2C334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8368" y="3529584"/>
            <a:ext cx="82296" cy="82296"/>
          </a:xfrm>
          <a:prstGeom prst="ellipse">
            <a:avLst/>
          </a:prstGeom>
          <a:solidFill>
            <a:srgbClr val="F0A07A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4472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Every run leaves a record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3767328"/>
            <a:ext cx="35753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 record per run, and an optional full trace with prompts, outputs, timing and token usage. Reviews dedupe in flight.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3310128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1B2029"/>
          </a:solidFill>
          <a:ln w="9525">
            <a:solidFill>
              <a:srgbClr val="2C334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10328" y="3529584"/>
            <a:ext cx="82296" cy="82296"/>
          </a:xfrm>
          <a:prstGeom prst="ellipse">
            <a:avLst/>
          </a:prstGeom>
          <a:solidFill>
            <a:srgbClr val="E8C15E"/>
          </a:solidFill>
          <a:ln/>
        </p:spPr>
      </p:sp>
      <p:sp>
        <p:nvSpPr>
          <p:cNvPr id="18" name="Text 16"/>
          <p:cNvSpPr/>
          <p:nvPr/>
        </p:nvSpPr>
        <p:spPr>
          <a:xfrm>
            <a:off x="5093208" y="34472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It degrades honestly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10328" y="3767328"/>
            <a:ext cx="35753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canvas context → the flat SVG topology renders. No EventSource → the run says so. Read-only filesystem → the review stays in memory.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9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tests covering the API surface, citation grammars, evidence assembly, traces, run guards and the whole render path.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138160" y="48326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7200" y="48326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CLARITY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EE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ASK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Argue with </a:t>
            </a:r>
            <a:pPr indent="0" marL="0">
              <a:buNone/>
            </a:pPr>
            <a:r>
              <a:rPr lang="en-US" sz="42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number</a:t>
            </a:r>
            <a:pPr indent="0" marL="0">
              <a:buNone/>
            </a:pPr>
            <a:r>
              <a:rPr lang="en-US" sz="4200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87452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want design partners who will run their own programme through CLARITY and push back on what it returns — </a:t>
            </a:r>
            <a:pPr indent="0" marL="0">
              <a:lnSpc>
                <a:spcPct val="132000"/>
              </a:lnSpc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teams, translational investors, and disease foundations deciding where a grant goes</a:t>
            </a:r>
            <a:pPr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whole point of the proof chain is that now they can.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5EE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4290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99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ACTORS, NEVER TOUCHING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36850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 is the moat, not the model.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337560" y="28803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5EE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118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337560" y="34290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99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PROGRAMMES READY TO REVIEW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337560" y="36850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cell therapy · 40 gene therapy, eight areas.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217920" y="28803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5EE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17920" y="34290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99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 ID TO START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217920" y="36850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7C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an NCT number and watch the board fill.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4160520"/>
            <a:ext cx="3931920" cy="365760"/>
          </a:xfrm>
          <a:prstGeom prst="roundRect">
            <a:avLst>
              <a:gd name="adj" fmla="val 15000"/>
            </a:avLst>
          </a:prstGeom>
          <a:ln w="12700">
            <a:solidFill>
              <a:srgbClr val="E8C1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59436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C1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FILL IN — raise, round, use of funds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0" y="4160520"/>
            <a:ext cx="3840480" cy="365760"/>
          </a:xfrm>
          <a:prstGeom prst="roundRect">
            <a:avLst>
              <a:gd name="adj" fmla="val 15000"/>
            </a:avLst>
          </a:prstGeom>
          <a:ln w="12700">
            <a:solidFill>
              <a:srgbClr val="E8C15E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70916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C1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FILL IN — name, contact, live URL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754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assessments are decision support, not regulatory advice.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138160" y="48326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48326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C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CLARITY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2026-08-16T17:23:30Z</dcterms:created>
  <dcterms:modified xsi:type="dcterms:W3CDTF">2026-08-16T17:23:30Z</dcterms:modified>
</cp:coreProperties>
</file>